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4" r:id="rId2"/>
    <p:sldId id="26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088" dt="2026-10-10T00:48:55.435"/>
    <p1510:client id="{4E494A0C-78FC-B8DB-4ECF-1B7012C74D54}" v="429" dt="2026-10-10T02:49:51.9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0"/>
  </p:normalViewPr>
  <p:slideViewPr>
    <p:cSldViewPr snapToGrid="0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09319A-995F-4B5E-8AA3-04F11FCDE72E}" type="datetimeFigureOut"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C72945-E690-4782-940D-B5B66CBEFF2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39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AF5D2-39A1-4321-388F-E44A82967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D526A-5953-A3E7-C8BA-174D90B65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6D0181-AFCE-F738-53DA-15516710A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B7E24-DC0D-A0FC-2930-745012136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644E-43D5-8542-95FF-C0A751D6E2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97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56EDC-1284-ED58-912B-5EB86170F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D8410-8CD0-0542-D1CA-E43E54F21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3E729-A115-3E70-5B4E-796142EE1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476AA-F0E2-1E4C-A1EB-AD1B9683F1BF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2CFBA-0CC0-AE03-AB79-750DADDCA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796F4-734D-A554-FF31-CBC7968EF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CB46-AF3C-3A44-89A1-5FDE25B37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79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7C2A6-8F9A-93D4-D00B-3524CAE0B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80BD0-2706-6B94-4CF1-1F332D79C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A9202-7418-5FEB-1AA8-0921E0B25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476AA-F0E2-1E4C-A1EB-AD1B9683F1BF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8ACF3-1832-0F5E-C9DD-97FD0DED2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E8820-535F-133A-26F1-DC4ED905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CB46-AF3C-3A44-89A1-5FDE25B37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30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80C8-EF3E-F93A-1525-549AD3FA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4A2C9-F672-0E22-2246-5B1840D16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11E98-A96F-C8B9-D3C6-36F4C4439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476AA-F0E2-1E4C-A1EB-AD1B9683F1BF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419AA-692E-5BC1-AFC6-E42CD975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CB5AA-33C5-3181-BCA0-21D013E18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CB46-AF3C-3A44-89A1-5FDE25B37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267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6E476-0433-6A89-2C58-B1EC752F4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A96AD-C615-C667-7601-1AE53F260B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0D3B5-EDC1-6575-EDC7-005668906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2BBA2-38D9-06CE-DC44-1F1758B13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476AA-F0E2-1E4C-A1EB-AD1B9683F1BF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EDE7C-46DD-E752-610F-18E21F28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2D64EB-BFCB-C839-F953-BE7BE5F90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CB46-AF3C-3A44-89A1-5FDE25B37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5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755C8-9F1D-9E88-0D45-87E17EDC7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52056-0E65-149B-64B4-23251E9F5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9B8F5F-6149-1974-04FF-343B58DE2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9152AA-B9BF-BC26-3F6F-51C116681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E280D7-3609-7F3A-F046-ADAD68876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13B7EB-162F-9283-2834-9CFF5FFD1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476AA-F0E2-1E4C-A1EB-AD1B9683F1BF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9FB051-293F-3443-3F2B-B1BA9E7E0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6680B6-3B03-D736-E14F-335D2DF67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CB46-AF3C-3A44-89A1-5FDE25B37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22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A5088-189E-4299-DF64-BDEFDF5F1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56561-B61E-1A3B-4816-503528FD1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476AA-F0E2-1E4C-A1EB-AD1B9683F1BF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B4D43C-8E83-AF05-264E-A789C0795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804D5E-A20A-3EC6-BF85-9085D490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CB46-AF3C-3A44-89A1-5FDE25B37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9C9A1B-7D92-C32F-0266-E1C4FF706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476AA-F0E2-1E4C-A1EB-AD1B9683F1BF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8B5C33-7515-A457-FAD0-2A72BA83D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6BF13-67E5-5C09-CF93-36F1B1B92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CB46-AF3C-3A44-89A1-5FDE25B37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64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98CB-B91B-2170-D142-1039DC135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F85B8-AFFE-B892-35A6-BBCA54522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BB057-DCFF-7936-DDBB-53408F11C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C6A21-DA22-6AAF-C0F5-A76EFB89F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476AA-F0E2-1E4C-A1EB-AD1B9683F1BF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11A1BE-6F1E-834B-963A-6EAC90226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B9087-2F11-C56B-EFD6-A105EABC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CB46-AF3C-3A44-89A1-5FDE25B37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13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1098C-2D40-ADEC-628C-2100C66C8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3BBA8F-FD2B-06A8-E4F8-1CE393B97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23EB7-935B-61D2-FF70-9E3729B57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E55EDF-E0EE-E269-015A-095DB2E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476AA-F0E2-1E4C-A1EB-AD1B9683F1BF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80E1E-A8B9-169B-2472-151AF272F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482B5-F98D-206D-460B-672411227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CB46-AF3C-3A44-89A1-5FDE25B37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929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A06B4-99AE-CDFC-ED43-3EF779124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575327-93DB-83E2-CE7E-ADF714C36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BA015-A11C-22C8-D5AD-DD711C471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476AA-F0E2-1E4C-A1EB-AD1B9683F1BF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1E726-E2C7-F896-127E-D2E2AD396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51948-0DD4-EF36-A120-2D9BA554F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CB46-AF3C-3A44-89A1-5FDE25B37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9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4D6678-4D5A-FE00-E970-A96B11C0B2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D238A-636C-AF25-68C1-AA70ACDAB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98E58-309B-DFB4-6AF8-EAF8B6DDF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476AA-F0E2-1E4C-A1EB-AD1B9683F1BF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49E61-AB96-A64E-0AAC-B72FE3042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3C08A-21D2-33E3-8BAD-F99E33C9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CB46-AF3C-3A44-89A1-5FDE25B37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0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DC208F-8A38-B45E-974B-64E08E67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74158-DB0C-69C9-F6FA-F40D0FBAE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25D0-602E-6E7C-2967-1CB11B2A05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476AA-F0E2-1E4C-A1EB-AD1B9683F1BF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B9D1A-5074-F712-385F-00E1293421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2C987-3197-B4FA-1E68-C324C210E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1CB46-AF3C-3A44-89A1-5FDE25B37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895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5B4EFA-53FB-D2BF-80E9-C533CE1E5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EBEFF-5F0D-C10B-EA02-9B2FA881A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74320"/>
            <a:ext cx="10927080" cy="475488"/>
          </a:xfrm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3000" b="1">
                <a:solidFill>
                  <a:srgbClr val="2B4940"/>
                </a:solidFill>
                <a:latin typeface="Aptos Display"/>
              </a:rPr>
              <a:t>Christ Temple GIPHC </a:t>
            </a:r>
            <a:r>
              <a:rPr sz="3000" b="1" dirty="0">
                <a:solidFill>
                  <a:srgbClr val="2B4940"/>
                </a:solidFill>
                <a:latin typeface="Aptos Display"/>
              </a:rPr>
              <a:t>Ministry Pillars</a:t>
            </a:r>
            <a:endParaRPr lang="en-US" sz="3000" b="1">
              <a:solidFill>
                <a:srgbClr val="2B4940"/>
              </a:solidFill>
              <a:latin typeface="Aptos Display"/>
            </a:endParaRPr>
          </a:p>
        </p:txBody>
      </p:sp>
      <p:pic>
        <p:nvPicPr>
          <p:cNvPr id="12" name="Graphic 11" descr="Sprouting Seed outline">
            <a:extLst>
              <a:ext uri="{FF2B5EF4-FFF2-40B4-BE49-F238E27FC236}">
                <a16:creationId xmlns:a16="http://schemas.microsoft.com/office/drawing/2014/main" id="{2413B364-F94A-3B3C-8B33-6E2D1696DA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3008" y="1225296"/>
            <a:ext cx="384048" cy="384048"/>
          </a:xfrm>
          <a:prstGeom prst="rect">
            <a:avLst/>
          </a:prstGeom>
        </p:spPr>
      </p:pic>
      <p:pic>
        <p:nvPicPr>
          <p:cNvPr id="14" name="Graphic 13" descr="Lecturer outline">
            <a:extLst>
              <a:ext uri="{FF2B5EF4-FFF2-40B4-BE49-F238E27FC236}">
                <a16:creationId xmlns:a16="http://schemas.microsoft.com/office/drawing/2014/main" id="{CE7E7ACC-037C-8694-A3C5-35ADD4C66E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792" y="1225296"/>
            <a:ext cx="384048" cy="384048"/>
          </a:xfrm>
          <a:prstGeom prst="rect">
            <a:avLst/>
          </a:prstGeom>
        </p:spPr>
      </p:pic>
      <p:pic>
        <p:nvPicPr>
          <p:cNvPr id="16" name="Graphic 15" descr="Tools outline">
            <a:extLst>
              <a:ext uri="{FF2B5EF4-FFF2-40B4-BE49-F238E27FC236}">
                <a16:creationId xmlns:a16="http://schemas.microsoft.com/office/drawing/2014/main" id="{8FBFE57C-26B1-A560-A0D2-92246BB9DC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4224" y="1225296"/>
            <a:ext cx="384048" cy="384048"/>
          </a:xfrm>
          <a:prstGeom prst="rect">
            <a:avLst/>
          </a:prstGeom>
        </p:spPr>
      </p:pic>
      <p:pic>
        <p:nvPicPr>
          <p:cNvPr id="13" name="Graphic 12" descr="Wreath outline">
            <a:extLst>
              <a:ext uri="{FF2B5EF4-FFF2-40B4-BE49-F238E27FC236}">
                <a16:creationId xmlns:a16="http://schemas.microsoft.com/office/drawing/2014/main" id="{53F2D65B-C553-3EC5-40EC-D9F5A03D38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35440" y="1225296"/>
            <a:ext cx="384048" cy="38404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B4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" y="804672"/>
            <a:ext cx="10927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>
                <a:solidFill>
                  <a:srgbClr val="626966"/>
                </a:solidFill>
                <a:latin typeface="Aptos"/>
              </a:rPr>
              <a:t>Four commitments that shape how we serve</a:t>
            </a:r>
            <a:r>
              <a:rPr lang="en-US" sz="1400">
                <a:solidFill>
                  <a:srgbClr val="626966"/>
                </a:solidFill>
                <a:latin typeface="Aptos"/>
              </a:rPr>
              <a:t> God</a:t>
            </a:r>
            <a:r>
              <a:rPr sz="1400">
                <a:solidFill>
                  <a:srgbClr val="626966"/>
                </a:solidFill>
                <a:latin typeface="Aptos"/>
              </a:rPr>
              <a:t>, grow</a:t>
            </a:r>
            <a:r>
              <a:rPr lang="en-US" sz="1400">
                <a:solidFill>
                  <a:srgbClr val="626966"/>
                </a:solidFill>
                <a:latin typeface="Aptos"/>
              </a:rPr>
              <a:t> in grace</a:t>
            </a:r>
            <a:r>
              <a:rPr sz="1400">
                <a:solidFill>
                  <a:srgbClr val="626966"/>
                </a:solidFill>
                <a:latin typeface="Aptos"/>
              </a:rPr>
              <a:t>, steward</a:t>
            </a:r>
            <a:r>
              <a:rPr lang="en-US" sz="1400">
                <a:solidFill>
                  <a:srgbClr val="626966"/>
                </a:solidFill>
                <a:latin typeface="Aptos"/>
              </a:rPr>
              <a:t> resources</a:t>
            </a:r>
            <a:r>
              <a:rPr sz="1400">
                <a:solidFill>
                  <a:srgbClr val="626966"/>
                </a:solidFill>
                <a:latin typeface="Aptos"/>
              </a:rPr>
              <a:t>, and strengthen our community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27832" y="1252728"/>
            <a:ext cx="16459" cy="5074920"/>
          </a:xfrm>
          <a:prstGeom prst="rect">
            <a:avLst/>
          </a:prstGeom>
          <a:solidFill>
            <a:srgbClr val="D8C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99048" y="1252728"/>
            <a:ext cx="16459" cy="5074920"/>
          </a:xfrm>
          <a:prstGeom prst="rect">
            <a:avLst/>
          </a:prstGeom>
          <a:solidFill>
            <a:srgbClr val="D8C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70264" y="1252728"/>
            <a:ext cx="16459" cy="5074920"/>
          </a:xfrm>
          <a:prstGeom prst="rect">
            <a:avLst/>
          </a:prstGeom>
          <a:solidFill>
            <a:srgbClr val="D8C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52144" y="1271016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B89148"/>
                </a:solidFill>
                <a:latin typeface="Aptos"/>
              </a:rPr>
              <a:t>PILLAR 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1755648"/>
            <a:ext cx="233172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2000"/>
              </a:lnSpc>
            </a:pPr>
            <a:r>
              <a:rPr sz="1550" b="1">
                <a:solidFill>
                  <a:srgbClr val="2B4940"/>
                </a:solidFill>
                <a:latin typeface="Aptos Display"/>
              </a:rPr>
              <a:t>PREACH THE GOSPEL
OF JESUS CHRIST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2560320"/>
            <a:ext cx="512064" cy="32004"/>
          </a:xfrm>
          <a:prstGeom prst="rect">
            <a:avLst/>
          </a:prstGeom>
          <a:solidFill>
            <a:srgbClr val="B89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" y="2734056"/>
            <a:ext cx="2331720" cy="276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50" b="1" dirty="0">
                <a:solidFill>
                  <a:srgbClr val="B89148"/>
                </a:solidFill>
                <a:latin typeface="Aptos"/>
              </a:rPr>
              <a:t>• </a:t>
            </a:r>
            <a:r>
              <a:rPr lang="en-US" sz="1450" b="1">
                <a:solidFill>
                  <a:srgbClr val="252B29"/>
                </a:solidFill>
                <a:latin typeface="Aptos"/>
              </a:rPr>
              <a:t>Go</a:t>
            </a:r>
            <a:endParaRPr sz="1450" b="1">
              <a:solidFill>
                <a:srgbClr val="252B29"/>
              </a:solidFill>
              <a:latin typeface="Aptos"/>
            </a:endParaRPr>
          </a:p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50" b="1">
                <a:solidFill>
                  <a:srgbClr val="B89148"/>
                </a:solidFill>
                <a:latin typeface="Aptos"/>
              </a:rPr>
              <a:t>• </a:t>
            </a:r>
            <a:r>
              <a:rPr sz="1450" b="1">
                <a:solidFill>
                  <a:srgbClr val="252B29"/>
                </a:solidFill>
                <a:latin typeface="Aptos"/>
              </a:rPr>
              <a:t>Teach all nations</a:t>
            </a:r>
            <a:r>
              <a:rPr sz="1450">
                <a:solidFill>
                  <a:srgbClr val="626966"/>
                </a:solidFill>
                <a:latin typeface="Aptos"/>
              </a:rPr>
              <a:t> — become a pulpit for the Gospel</a:t>
            </a:r>
          </a:p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50" b="1">
                <a:solidFill>
                  <a:srgbClr val="B89148"/>
                </a:solidFill>
                <a:latin typeface="Aptos"/>
              </a:rPr>
              <a:t>• </a:t>
            </a:r>
            <a:r>
              <a:rPr sz="1450" b="1">
                <a:solidFill>
                  <a:srgbClr val="252B29"/>
                </a:solidFill>
                <a:latin typeface="Aptos"/>
              </a:rPr>
              <a:t>Baptize in the name of the Father, Son, and Holy Ghost</a:t>
            </a:r>
            <a:r>
              <a:rPr sz="1450" dirty="0">
                <a:solidFill>
                  <a:srgbClr val="626966"/>
                </a:solidFill>
                <a:latin typeface="Aptos"/>
              </a:rPr>
              <a:t> </a:t>
            </a:r>
            <a:r>
              <a:rPr sz="1450">
                <a:solidFill>
                  <a:srgbClr val="626966"/>
                </a:solidFill>
                <a:latin typeface="Aptos"/>
              </a:rPr>
              <a:t>— immerse, dip, and submerge in the name of the Lord</a:t>
            </a:r>
          </a:p>
          <a:p>
            <a:pPr>
              <a:lnSpc>
                <a:spcPct val="103000"/>
              </a:lnSpc>
              <a:spcAft>
                <a:spcPts val="1200"/>
              </a:spcAft>
            </a:pPr>
            <a:r>
              <a:rPr lang="en-US" sz="1450" b="1">
                <a:solidFill>
                  <a:srgbClr val="252B29"/>
                </a:solidFill>
                <a:latin typeface="Aptos"/>
              </a:rPr>
              <a:t>•Minister </a:t>
            </a:r>
            <a:r>
              <a:rPr lang="en-US" sz="1450">
                <a:solidFill>
                  <a:srgbClr val="252B29"/>
                </a:solidFill>
                <a:latin typeface="Aptos"/>
              </a:rPr>
              <a:t>with </a:t>
            </a:r>
            <a:r>
              <a:rPr lang="en-US" sz="1450" b="1">
                <a:solidFill>
                  <a:srgbClr val="252B29"/>
                </a:solidFill>
                <a:latin typeface="Aptos"/>
              </a:rPr>
              <a:t>love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099048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i="1">
                <a:solidFill>
                  <a:srgbClr val="2B4940"/>
                </a:solidFill>
                <a:latin typeface="Aptos"/>
              </a:rPr>
              <a:t>Matthew 28:19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59" y="1271016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B89148"/>
                </a:solidFill>
                <a:latin typeface="Aptos"/>
              </a:rPr>
              <a:t>PILLAR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1755648"/>
            <a:ext cx="233172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2000"/>
              </a:lnSpc>
            </a:pPr>
            <a:r>
              <a:rPr sz="1550" b="1">
                <a:solidFill>
                  <a:srgbClr val="2B4940"/>
                </a:solidFill>
                <a:latin typeface="Aptos Display"/>
              </a:rPr>
              <a:t>FOSTER SPIRITUAL
GROWTH, MATURITY,
GROUNDING &amp; UNITY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93008" y="2560320"/>
            <a:ext cx="512064" cy="32004"/>
          </a:xfrm>
          <a:prstGeom prst="rect">
            <a:avLst/>
          </a:prstGeom>
          <a:solidFill>
            <a:srgbClr val="B89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93008" y="2734056"/>
            <a:ext cx="2331720" cy="3163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50" b="1">
                <a:solidFill>
                  <a:srgbClr val="B89148"/>
                </a:solidFill>
                <a:latin typeface="Aptos"/>
              </a:rPr>
              <a:t>• </a:t>
            </a:r>
            <a:r>
              <a:rPr sz="1450" b="1">
                <a:solidFill>
                  <a:srgbClr val="252B29"/>
                </a:solidFill>
                <a:latin typeface="Aptos"/>
              </a:rPr>
              <a:t>Perfect the saints</a:t>
            </a:r>
            <a:r>
              <a:rPr sz="1450">
                <a:solidFill>
                  <a:srgbClr val="626966"/>
                </a:solidFill>
                <a:latin typeface="Aptos"/>
              </a:rPr>
              <a:t> — complete the equipping of God’s people</a:t>
            </a:r>
          </a:p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50" b="1">
                <a:solidFill>
                  <a:srgbClr val="B89148"/>
                </a:solidFill>
                <a:latin typeface="Aptos"/>
              </a:rPr>
              <a:t>• </a:t>
            </a:r>
            <a:r>
              <a:rPr sz="1450" b="1">
                <a:solidFill>
                  <a:srgbClr val="252B29"/>
                </a:solidFill>
                <a:latin typeface="Aptos"/>
              </a:rPr>
              <a:t>Work in the ministry</a:t>
            </a:r>
            <a:r>
              <a:rPr sz="1450">
                <a:solidFill>
                  <a:srgbClr val="626966"/>
                </a:solidFill>
                <a:latin typeface="Aptos"/>
              </a:rPr>
              <a:t> — define service and work heartily in it</a:t>
            </a:r>
          </a:p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50" b="1">
                <a:solidFill>
                  <a:srgbClr val="B89148"/>
                </a:solidFill>
                <a:latin typeface="Aptos"/>
              </a:rPr>
              <a:t>• </a:t>
            </a:r>
            <a:r>
              <a:rPr sz="1450" b="1">
                <a:solidFill>
                  <a:srgbClr val="252B29"/>
                </a:solidFill>
                <a:latin typeface="Aptos"/>
              </a:rPr>
              <a:t>Edify the body of Christ</a:t>
            </a:r>
            <a:r>
              <a:rPr sz="1450">
                <a:solidFill>
                  <a:srgbClr val="626966"/>
                </a:solidFill>
                <a:latin typeface="Aptos"/>
              </a:rPr>
              <a:t> — build the body collectively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6099048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i="1">
                <a:solidFill>
                  <a:srgbClr val="2B4940"/>
                </a:solidFill>
                <a:latin typeface="Aptos"/>
              </a:rPr>
              <a:t>Ephesians 4:11–16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1271016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B89148"/>
                </a:solidFill>
                <a:latin typeface="Aptos"/>
              </a:rPr>
              <a:t>PILLAR 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1755648"/>
            <a:ext cx="233172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2000"/>
              </a:lnSpc>
            </a:pPr>
            <a:r>
              <a:rPr sz="1550" b="1">
                <a:solidFill>
                  <a:srgbClr val="2B4940"/>
                </a:solidFill>
                <a:latin typeface="Aptos Display"/>
              </a:rPr>
              <a:t>KEEP THE HOUSE OF GOD
IN EXCELLENCE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64224" y="2560320"/>
            <a:ext cx="512064" cy="32004"/>
          </a:xfrm>
          <a:prstGeom prst="rect">
            <a:avLst/>
          </a:prstGeom>
          <a:solidFill>
            <a:srgbClr val="B89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64224" y="2734056"/>
            <a:ext cx="2331720" cy="3163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450" b="1">
                <a:solidFill>
                  <a:srgbClr val="B89148"/>
                </a:solidFill>
                <a:latin typeface="Aptos"/>
              </a:rPr>
              <a:t>• </a:t>
            </a:r>
            <a:r>
              <a:rPr sz="1450" b="1">
                <a:solidFill>
                  <a:srgbClr val="252B29"/>
                </a:solidFill>
                <a:latin typeface="Aptos"/>
              </a:rPr>
              <a:t>Oversee the house of God</a:t>
            </a:r>
            <a:r>
              <a:rPr sz="1450">
                <a:solidFill>
                  <a:srgbClr val="626966"/>
                </a:solidFill>
                <a:latin typeface="Aptos"/>
              </a:rPr>
              <a:t> — structure, activity, and worship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450" b="1">
                <a:solidFill>
                  <a:srgbClr val="B89148"/>
                </a:solidFill>
                <a:latin typeface="Aptos"/>
              </a:rPr>
              <a:t>• </a:t>
            </a:r>
            <a:r>
              <a:rPr sz="1450" b="1">
                <a:solidFill>
                  <a:srgbClr val="252B29"/>
                </a:solidFill>
                <a:latin typeface="Aptos"/>
              </a:rPr>
              <a:t>Repair breaches</a:t>
            </a:r>
            <a:r>
              <a:rPr sz="1450">
                <a:solidFill>
                  <a:srgbClr val="626966"/>
                </a:solidFill>
                <a:latin typeface="Aptos"/>
              </a:rPr>
              <a:t> with skilled laborers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450" b="1">
                <a:solidFill>
                  <a:srgbClr val="B89148"/>
                </a:solidFill>
                <a:latin typeface="Aptos"/>
              </a:rPr>
              <a:t>• </a:t>
            </a:r>
            <a:r>
              <a:rPr sz="1450" b="1">
                <a:solidFill>
                  <a:srgbClr val="252B29"/>
                </a:solidFill>
                <a:latin typeface="Aptos"/>
              </a:rPr>
              <a:t>Keep orderly</a:t>
            </a:r>
            <a:r>
              <a:rPr sz="1450">
                <a:solidFill>
                  <a:srgbClr val="626966"/>
                </a:solidFill>
                <a:latin typeface="Aptos"/>
              </a:rPr>
              <a:t> books, records, compliance, and controls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450" b="1">
                <a:solidFill>
                  <a:srgbClr val="B89148"/>
                </a:solidFill>
                <a:latin typeface="Aptos"/>
              </a:rPr>
              <a:t>• </a:t>
            </a:r>
            <a:r>
              <a:rPr sz="1450" b="1">
                <a:solidFill>
                  <a:srgbClr val="252B29"/>
                </a:solidFill>
                <a:latin typeface="Aptos"/>
              </a:rPr>
              <a:t>Administer resources</a:t>
            </a:r>
            <a:r>
              <a:rPr sz="1450">
                <a:solidFill>
                  <a:srgbClr val="626966"/>
                </a:solidFill>
                <a:latin typeface="Aptos"/>
              </a:rPr>
              <a:t> for God’s Kingdom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6099048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i="1">
                <a:solidFill>
                  <a:srgbClr val="2B4940"/>
                </a:solidFill>
                <a:latin typeface="Aptos"/>
              </a:rPr>
              <a:t>II Kings 22:3–6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65792" y="1271016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B89148"/>
                </a:solidFill>
                <a:latin typeface="Aptos"/>
              </a:rPr>
              <a:t>PILLAR 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1755648"/>
            <a:ext cx="233172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2000"/>
              </a:lnSpc>
            </a:pPr>
            <a:r>
              <a:rPr sz="1550" b="1">
                <a:solidFill>
                  <a:srgbClr val="2B4940"/>
                </a:solidFill>
                <a:latin typeface="Aptos Display"/>
              </a:rPr>
              <a:t>EXPECT &amp; DELIVER
GOD’S BEST IN OUR
COMMUNITY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35440" y="2560320"/>
            <a:ext cx="512064" cy="32004"/>
          </a:xfrm>
          <a:prstGeom prst="rect">
            <a:avLst/>
          </a:prstGeom>
          <a:solidFill>
            <a:srgbClr val="B89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35440" y="2734056"/>
            <a:ext cx="2331720" cy="3163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450" b="1">
                <a:solidFill>
                  <a:srgbClr val="B89148"/>
                </a:solidFill>
                <a:latin typeface="Aptos"/>
              </a:rPr>
              <a:t>• </a:t>
            </a:r>
            <a:r>
              <a:rPr sz="1450" b="1">
                <a:solidFill>
                  <a:srgbClr val="252B29"/>
                </a:solidFill>
                <a:latin typeface="Aptos"/>
              </a:rPr>
              <a:t>Love people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450" b="1">
                <a:solidFill>
                  <a:srgbClr val="B89148"/>
                </a:solidFill>
                <a:latin typeface="Aptos"/>
              </a:rPr>
              <a:t>• </a:t>
            </a:r>
            <a:r>
              <a:rPr sz="1450" b="1">
                <a:solidFill>
                  <a:srgbClr val="252B29"/>
                </a:solidFill>
                <a:latin typeface="Aptos"/>
              </a:rPr>
              <a:t>Drive benefit for society</a:t>
            </a:r>
            <a:r>
              <a:rPr sz="1450">
                <a:solidFill>
                  <a:srgbClr val="626966"/>
                </a:solidFill>
                <a:latin typeface="Aptos"/>
              </a:rPr>
              <a:t> by standing for righteousness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450" b="1">
                <a:solidFill>
                  <a:srgbClr val="B89148"/>
                </a:solidFill>
                <a:latin typeface="Aptos"/>
              </a:rPr>
              <a:t>• </a:t>
            </a:r>
            <a:r>
              <a:rPr sz="1450" b="1">
                <a:solidFill>
                  <a:srgbClr val="252B29"/>
                </a:solidFill>
                <a:latin typeface="Aptos"/>
              </a:rPr>
              <a:t>Hold our community and ourselves accountable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450" b="1">
                <a:solidFill>
                  <a:srgbClr val="B89148"/>
                </a:solidFill>
                <a:latin typeface="Aptos"/>
              </a:rPr>
              <a:t>• </a:t>
            </a:r>
            <a:r>
              <a:rPr sz="1450" b="1">
                <a:solidFill>
                  <a:srgbClr val="252B29"/>
                </a:solidFill>
                <a:latin typeface="Aptos"/>
              </a:rPr>
              <a:t>Collaborate with the right partners</a:t>
            </a:r>
            <a:r>
              <a:rPr sz="1450">
                <a:solidFill>
                  <a:srgbClr val="626966"/>
                </a:solidFill>
                <a:latin typeface="Aptos"/>
              </a:rPr>
              <a:t> for the glory of God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6099048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i="1">
                <a:solidFill>
                  <a:srgbClr val="2B4940"/>
                </a:solidFill>
                <a:latin typeface="Aptos"/>
              </a:rPr>
              <a:t>Proverbs 14:34</a:t>
            </a:r>
          </a:p>
        </p:txBody>
      </p:sp>
    </p:spTree>
    <p:extLst>
      <p:ext uri="{BB962C8B-B14F-4D97-AF65-F5344CB8AC3E}">
        <p14:creationId xmlns:p14="http://schemas.microsoft.com/office/powerpoint/2010/main" val="3455563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4C55AF-6715-36B2-7DD4-3EB4C30FFEFC}"/>
              </a:ext>
            </a:extLst>
          </p:cNvPr>
          <p:cNvSpPr txBox="1"/>
          <p:nvPr/>
        </p:nvSpPr>
        <p:spPr>
          <a:xfrm>
            <a:off x="630936" y="1161288"/>
            <a:ext cx="5166360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b="1">
                <a:solidFill>
                  <a:srgbClr val="2B4940"/>
                </a:solidFill>
                <a:latin typeface="Aptos"/>
              </a:rPr>
              <a:t>Ministry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7227D1-0E8D-918D-ECF3-F1EA425E5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796620"/>
              </p:ext>
            </p:extLst>
          </p:nvPr>
        </p:nvGraphicFramePr>
        <p:xfrm>
          <a:off x="621792" y="1764792"/>
          <a:ext cx="1094536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434213097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34397689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598784747"/>
                    </a:ext>
                  </a:extLst>
                </a:gridCol>
                <a:gridCol w="3630168">
                  <a:extLst>
                    <a:ext uri="{9D8B030D-6E8A-4147-A177-3AD203B41FA5}">
                      <a16:colId xmlns:a16="http://schemas.microsoft.com/office/drawing/2014/main" val="2500954217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lang="en-US" sz="1250" b="1">
                          <a:solidFill>
                            <a:srgbClr val="FFFFFF"/>
                          </a:solidFill>
                          <a:latin typeface="Aptos"/>
                        </a:rPr>
                        <a:t>MINISTRY INITIATIVE</a:t>
                      </a:r>
                    </a:p>
                  </a:txBody>
                  <a:tcPr marL="109728" marR="109728" marT="73152" marB="73152" anchor="ctr">
                    <a:solidFill>
                      <a:srgbClr val="2B494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Aptos"/>
                        </a:rPr>
                        <a:t>DESCRIPTION &amp; INTENDED OUTCOME</a:t>
                      </a:r>
                    </a:p>
                  </a:txBody>
                  <a:tcPr marL="109728" marR="109728" marT="73152" marB="73152" anchor="ctr">
                    <a:solidFill>
                      <a:srgbClr val="2B494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Aptos"/>
                        </a:rPr>
                        <a:t>PROPOSED DATE</a:t>
                      </a:r>
                    </a:p>
                  </a:txBody>
                  <a:tcPr marL="109728" marR="109728" marT="73152" marB="73152" anchor="ctr">
                    <a:solidFill>
                      <a:srgbClr val="2B49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1">
                          <a:solidFill>
                            <a:srgbClr val="FFFFFF"/>
                          </a:solidFill>
                          <a:latin typeface="Aptos"/>
                        </a:rPr>
                        <a:t>PILLAR ALIGNMENT</a:t>
                      </a:r>
                    </a:p>
                  </a:txBody>
                  <a:tcPr marL="109728" marR="109728" marT="73152" marB="73152" anchor="ctr">
                    <a:solidFill>
                      <a:srgbClr val="2B4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420521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algn="l"/>
                      <a:r>
                        <a:rPr lang="en-US" sz="1150" i="1">
                          <a:solidFill>
                            <a:srgbClr val="7C827F"/>
                          </a:solidFill>
                          <a:latin typeface="Aptos"/>
                        </a:rPr>
                        <a:t>1   Initiative name</a:t>
                      </a:r>
                      <a:endParaRPr lang="en-US"/>
                    </a:p>
                  </a:txBody>
                  <a:tcPr marL="128016" marR="128016" marT="109728" marB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150" i="1">
                          <a:solidFill>
                            <a:srgbClr val="7C827F"/>
                          </a:solidFill>
                          <a:latin typeface="Aptos"/>
                        </a:rPr>
                        <a:t>Brief description and intended outcome</a:t>
                      </a:r>
                      <a:endParaRPr lang="en-US"/>
                    </a:p>
                  </a:txBody>
                  <a:tcPr marL="128016" marR="128016" marT="109728" marB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50" i="1">
                          <a:solidFill>
                            <a:srgbClr val="7C827F"/>
                          </a:solidFill>
                          <a:latin typeface="Aptos"/>
                        </a:rPr>
                        <a:t>MM / DD / YYYY</a:t>
                      </a:r>
                      <a:endParaRPr lang="en-US"/>
                    </a:p>
                  </a:txBody>
                  <a:tcPr marL="128016" marR="128016" marT="109728" marB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i="1">
                          <a:solidFill>
                            <a:srgbClr val="7C827F"/>
                          </a:solidFill>
                          <a:latin typeface="Aptos"/>
                        </a:rPr>
                        <a:t>Pillar 01–04</a:t>
                      </a:r>
                      <a:endParaRPr lang="en-US"/>
                    </a:p>
                  </a:txBody>
                  <a:tcPr marL="128016" marR="128016" marT="109728" marB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536902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algn="l"/>
                      <a:r>
                        <a:rPr lang="en-US" sz="1150" i="1">
                          <a:solidFill>
                            <a:srgbClr val="7C827F"/>
                          </a:solidFill>
                          <a:latin typeface="Aptos"/>
                        </a:rPr>
                        <a:t>2   Initiative name</a:t>
                      </a:r>
                      <a:endParaRPr lang="en-US"/>
                    </a:p>
                  </a:txBody>
                  <a:tcPr marL="128016" marR="128016" marT="109728" marB="109728"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150" i="1">
                          <a:solidFill>
                            <a:srgbClr val="7C827F"/>
                          </a:solidFill>
                          <a:latin typeface="Aptos"/>
                        </a:rPr>
                        <a:t>Brief description and intended outcome</a:t>
                      </a:r>
                      <a:endParaRPr lang="en-US"/>
                    </a:p>
                  </a:txBody>
                  <a:tcPr marL="128016" marR="128016" marT="109728" marB="109728"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50" i="1">
                          <a:solidFill>
                            <a:srgbClr val="7C827F"/>
                          </a:solidFill>
                          <a:latin typeface="Aptos"/>
                        </a:rPr>
                        <a:t>MM / DD / YYYY</a:t>
                      </a:r>
                      <a:endParaRPr lang="en-US"/>
                    </a:p>
                  </a:txBody>
                  <a:tcPr marL="128016" marR="128016" marT="109728" marB="109728"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i="1">
                          <a:solidFill>
                            <a:srgbClr val="7C827F"/>
                          </a:solidFill>
                          <a:latin typeface="Aptos"/>
                        </a:rPr>
                        <a:t>Pillar 01–04</a:t>
                      </a:r>
                      <a:endParaRPr lang="en-US"/>
                    </a:p>
                  </a:txBody>
                  <a:tcPr marL="128016" marR="128016" marT="109728" marB="109728">
                    <a:solidFill>
                      <a:srgbClr val="F1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503259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algn="l"/>
                      <a:r>
                        <a:rPr lang="en-US" sz="1150" i="1">
                          <a:solidFill>
                            <a:srgbClr val="7C827F"/>
                          </a:solidFill>
                          <a:latin typeface="Aptos"/>
                        </a:rPr>
                        <a:t>3   Initiative name</a:t>
                      </a:r>
                      <a:endParaRPr lang="en-US"/>
                    </a:p>
                  </a:txBody>
                  <a:tcPr marL="128016" marR="128016" marT="109728" marB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150" i="1">
                          <a:solidFill>
                            <a:srgbClr val="7C827F"/>
                          </a:solidFill>
                          <a:latin typeface="Aptos"/>
                        </a:rPr>
                        <a:t>Brief description and intended outcome</a:t>
                      </a:r>
                      <a:endParaRPr lang="en-US"/>
                    </a:p>
                  </a:txBody>
                  <a:tcPr marL="128016" marR="128016" marT="109728" marB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50" i="1">
                          <a:solidFill>
                            <a:srgbClr val="7C827F"/>
                          </a:solidFill>
                          <a:latin typeface="Aptos"/>
                        </a:rPr>
                        <a:t>MM / DD / YYYY</a:t>
                      </a:r>
                      <a:endParaRPr lang="en-US"/>
                    </a:p>
                  </a:txBody>
                  <a:tcPr marL="128016" marR="128016" marT="109728" marB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i="1">
                          <a:solidFill>
                            <a:srgbClr val="7C827F"/>
                          </a:solidFill>
                          <a:latin typeface="Aptos"/>
                        </a:rPr>
                        <a:t>Pillar 01–04</a:t>
                      </a:r>
                      <a:endParaRPr lang="en-US"/>
                    </a:p>
                  </a:txBody>
                  <a:tcPr marL="128016" marR="128016" marT="109728" marB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3302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F471095-2D46-5AEC-4A37-9932A1A58527}"/>
              </a:ext>
            </a:extLst>
          </p:cNvPr>
          <p:cNvSpPr txBox="1"/>
          <p:nvPr/>
        </p:nvSpPr>
        <p:spPr>
          <a:xfrm>
            <a:off x="6400800" y="1161288"/>
            <a:ext cx="5157216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b="1">
                <a:solidFill>
                  <a:srgbClr val="2B4940"/>
                </a:solidFill>
                <a:latin typeface="Aptos"/>
              </a:rPr>
              <a:t>Ministry leader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A4447BC-D5E7-CD5E-4C59-55A36C9E2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00390"/>
              </p:ext>
            </p:extLst>
          </p:nvPr>
        </p:nvGraphicFramePr>
        <p:xfrm>
          <a:off x="621792" y="5669280"/>
          <a:ext cx="10945368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342">
                  <a:extLst>
                    <a:ext uri="{9D8B030D-6E8A-4147-A177-3AD203B41FA5}">
                      <a16:colId xmlns:a16="http://schemas.microsoft.com/office/drawing/2014/main" val="1081960774"/>
                    </a:ext>
                  </a:extLst>
                </a:gridCol>
                <a:gridCol w="2736342">
                  <a:extLst>
                    <a:ext uri="{9D8B030D-6E8A-4147-A177-3AD203B41FA5}">
                      <a16:colId xmlns:a16="http://schemas.microsoft.com/office/drawing/2014/main" val="787560446"/>
                    </a:ext>
                  </a:extLst>
                </a:gridCol>
                <a:gridCol w="2736342">
                  <a:extLst>
                    <a:ext uri="{9D8B030D-6E8A-4147-A177-3AD203B41FA5}">
                      <a16:colId xmlns:a16="http://schemas.microsoft.com/office/drawing/2014/main" val="2949670349"/>
                    </a:ext>
                  </a:extLst>
                </a:gridCol>
                <a:gridCol w="2736342">
                  <a:extLst>
                    <a:ext uri="{9D8B030D-6E8A-4147-A177-3AD203B41FA5}">
                      <a16:colId xmlns:a16="http://schemas.microsoft.com/office/drawing/2014/main" val="3848825488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sz="1050" b="1">
                          <a:solidFill>
                            <a:srgbClr val="B89148"/>
                          </a:solidFill>
                          <a:latin typeface="Aptos"/>
                        </a:rPr>
                        <a:t>PILLAR 01</a:t>
                      </a: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050" b="1">
                          <a:solidFill>
                            <a:srgbClr val="2B4940"/>
                          </a:solidFill>
                          <a:latin typeface="Aptos"/>
                        </a:rPr>
                        <a:t>Preach the Gospel of Jesus Christ</a:t>
                      </a:r>
                    </a:p>
                  </a:txBody>
                  <a:tcPr marL="109728" marR="109728" marT="73152" marB="73152" anchor="ctr"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sz="1050" b="1">
                          <a:solidFill>
                            <a:srgbClr val="B89148"/>
                          </a:solidFill>
                          <a:latin typeface="Aptos"/>
                        </a:rPr>
                        <a:t>PILLAR 02</a:t>
                      </a: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050" b="1">
                          <a:solidFill>
                            <a:srgbClr val="2B4940"/>
                          </a:solidFill>
                          <a:latin typeface="Aptos"/>
                        </a:rPr>
                        <a:t>Spiritual Growth, Maturity, Grounding &amp; Unity</a:t>
                      </a:r>
                    </a:p>
                  </a:txBody>
                  <a:tcPr marL="109728" marR="109728" marT="73152" marB="73152" anchor="ctr"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sz="1050" b="1">
                          <a:solidFill>
                            <a:srgbClr val="B89148"/>
                          </a:solidFill>
                          <a:latin typeface="Aptos"/>
                        </a:rPr>
                        <a:t>PILLAR 03</a:t>
                      </a: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050" b="1">
                          <a:solidFill>
                            <a:srgbClr val="2B4940"/>
                          </a:solidFill>
                          <a:latin typeface="Aptos"/>
                        </a:rPr>
                        <a:t>Keep the House of God in Excellence</a:t>
                      </a:r>
                    </a:p>
                  </a:txBody>
                  <a:tcPr marL="109728" marR="109728" marT="73152" marB="73152" anchor="ctr">
                    <a:solidFill>
                      <a:srgbClr val="F1EF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sz="1050" b="1">
                          <a:solidFill>
                            <a:srgbClr val="B89148"/>
                          </a:solidFill>
                          <a:latin typeface="Aptos"/>
                        </a:rPr>
                        <a:t>PILLAR 04</a:t>
                      </a: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1050" b="1">
                          <a:solidFill>
                            <a:srgbClr val="2B4940"/>
                          </a:solidFill>
                          <a:latin typeface="Aptos"/>
                        </a:rPr>
                        <a:t>Expect &amp; Deliver God’s Best in Our Community</a:t>
                      </a:r>
                    </a:p>
                  </a:txBody>
                  <a:tcPr marL="109728" marR="109728" marT="73152" marB="73152" anchor="ctr">
                    <a:solidFill>
                      <a:srgbClr val="F1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796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3CC2719-3DE5-907F-6273-0EBB87DE0180}"/>
              </a:ext>
            </a:extLst>
          </p:cNvPr>
          <p:cNvSpPr txBox="1"/>
          <p:nvPr/>
        </p:nvSpPr>
        <p:spPr>
          <a:xfrm>
            <a:off x="621792" y="274320"/>
            <a:ext cx="10927080" cy="4754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000" b="1">
                <a:solidFill>
                  <a:srgbClr val="2B4940"/>
                </a:solidFill>
                <a:latin typeface="Aptos Display"/>
              </a:rPr>
              <a:t>Christ Temple Ministry Initiative 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B4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" y="804672"/>
            <a:ext cx="10927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>
                <a:solidFill>
                  <a:srgbClr val="626966"/>
                </a:solidFill>
                <a:latin typeface="Aptos"/>
              </a:rPr>
              <a:t>Outline up to three initiatives and identify the ministry pillar each one supports.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" y="1490472"/>
            <a:ext cx="5166360" cy="22860"/>
          </a:xfrm>
          <a:prstGeom prst="rect">
            <a:avLst/>
          </a:prstGeom>
          <a:solidFill>
            <a:srgbClr val="B89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490472"/>
            <a:ext cx="5157216" cy="22860"/>
          </a:xfrm>
          <a:prstGeom prst="rect">
            <a:avLst/>
          </a:prstGeom>
          <a:solidFill>
            <a:srgbClr val="B89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" y="5404104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B89148"/>
                </a:solidFill>
                <a:latin typeface="Aptos"/>
              </a:rPr>
              <a:t>PILLAR REFERENCE</a:t>
            </a:r>
          </a:p>
        </p:txBody>
      </p:sp>
    </p:spTree>
    <p:extLst>
      <p:ext uri="{BB962C8B-B14F-4D97-AF65-F5344CB8AC3E}">
        <p14:creationId xmlns:p14="http://schemas.microsoft.com/office/powerpoint/2010/main" val="19812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10548</TotalTime>
  <Words>340</Words>
  <Application>Microsoft Office PowerPoint</Application>
  <PresentationFormat>Widescreen</PresentationFormat>
  <Paragraphs>55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Christ Temple GIPHC Ministry Pillars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 B</dc:creator>
  <cp:lastModifiedBy>C B</cp:lastModifiedBy>
  <cp:revision>160</cp:revision>
  <cp:lastPrinted>2026-09-14T07:06:02Z</cp:lastPrinted>
  <dcterms:created xsi:type="dcterms:W3CDTF">2026-09-14T06:11:14Z</dcterms:created>
  <dcterms:modified xsi:type="dcterms:W3CDTF">2026-10-12T02:44:08Z</dcterms:modified>
</cp:coreProperties>
</file>